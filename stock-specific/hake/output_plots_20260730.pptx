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63" r:id="rId3"/>
    <p:sldId id="257" r:id="rId4"/>
    <p:sldId id="308" r:id="rId5"/>
    <p:sldId id="309" r:id="rId6"/>
    <p:sldId id="310" r:id="rId7"/>
    <p:sldId id="301" r:id="rId8"/>
    <p:sldId id="304" r:id="rId9"/>
    <p:sldId id="302" r:id="rId10"/>
    <p:sldId id="313" r:id="rId11"/>
    <p:sldId id="316" r:id="rId12"/>
    <p:sldId id="306" r:id="rId13"/>
    <p:sldId id="259" r:id="rId14"/>
    <p:sldId id="322" r:id="rId15"/>
    <p:sldId id="268" r:id="rId16"/>
    <p:sldId id="325" r:id="rId17"/>
    <p:sldId id="284" r:id="rId18"/>
    <p:sldId id="293" r:id="rId19"/>
    <p:sldId id="271" r:id="rId20"/>
    <p:sldId id="267" r:id="rId21"/>
    <p:sldId id="326" r:id="rId22"/>
    <p:sldId id="323" r:id="rId23"/>
    <p:sldId id="298" r:id="rId24"/>
    <p:sldId id="269" r:id="rId25"/>
    <p:sldId id="320" r:id="rId26"/>
    <p:sldId id="321" r:id="rId27"/>
    <p:sldId id="317" r:id="rId28"/>
    <p:sldId id="318" r:id="rId29"/>
    <p:sldId id="319" r:id="rId30"/>
    <p:sldId id="270" r:id="rId31"/>
    <p:sldId id="266" r:id="rId32"/>
    <p:sldId id="287" r:id="rId33"/>
    <p:sldId id="280" r:id="rId34"/>
    <p:sldId id="281" r:id="rId35"/>
    <p:sldId id="288" r:id="rId36"/>
    <p:sldId id="289" r:id="rId37"/>
    <p:sldId id="292" r:id="rId38"/>
    <p:sldId id="294" r:id="rId39"/>
    <p:sldId id="295" r:id="rId40"/>
    <p:sldId id="296" r:id="rId41"/>
    <p:sldId id="297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302" autoAdjust="0"/>
  </p:normalViewPr>
  <p:slideViewPr>
    <p:cSldViewPr snapToGrid="0">
      <p:cViewPr varScale="1">
        <p:scale>
          <a:sx n="78" d="100"/>
          <a:sy n="78" d="100"/>
        </p:scale>
        <p:origin x="87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A585C4-8FDE-44AD-AB8B-4802EADEEE9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9AF6F9-19A8-4B2B-96C4-42992BE88A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004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C4B2-7BBD-99A6-3021-9FA3F90CC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CB5EE-C168-5223-B5E0-E2225DA870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381252-4A9E-DB7C-B6EA-46D0C96BB9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18B8A-7BCE-EF5F-BDDE-BFF3D6E7BF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2517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C1B9B-F62D-7292-0739-218FAE8E8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1BD2B-95CF-86FC-02A4-0FE594D7F6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71813-B717-2DFE-DD2F-5766C99786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E0B04-C723-0D92-2306-63D9FB8912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7328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220A8-91B4-DFE6-0717-9650E9761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ED38B7-6271-F0D1-A975-2D75FCF0A8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67C3CC-5FBD-3C0D-087F-776F24FC4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4271FA-3F0D-A303-0BC9-1CC7C111D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541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AC4B9-D081-F338-B89A-9D84A4419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8D8140-43E9-53F2-CAE5-5DDE80256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43144D-D2E2-2C0C-39A4-B14855826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4DEF7F-6D94-FE3E-0337-E0CB9F170D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2251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1185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Maybe look at specific months during sampling – April potentially?</a:t>
            </a:r>
          </a:p>
          <a:p>
            <a:r>
              <a:rPr lang="en-US" dirty="0"/>
              <a:t>Hypotheses of what the driving mechanisms are for the trends with age changes.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9153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ABBD3-A0D2-C3E1-5D19-38AC35826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9BD91C-6756-2EBA-4AA8-3DE267B36F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DA7CA0-3E06-3ECB-744F-4F55E7A93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B58F1-829A-4484-6F2A-60CE14072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C3B6A3-1983-7C7E-082D-8A44269A7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953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95199-D70D-378C-6C28-E027BE614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94B30-4EC8-89A2-B0AA-2FBA3AEB2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F5BD17-C6F7-CC56-9E3C-E20F1164F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1A7DCF-7365-5ABE-86BD-6BAA04A4F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E3308-67B2-C0EB-584F-12574F59E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067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8265C-603D-7A8E-4626-8749424FB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56556F-E8BC-7F62-2574-97C21C80A5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228180-F535-6DDC-3364-708C8D0AC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16977-72EB-324A-09CC-20E8B6A17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84D63-6FE9-2341-7D5D-A84475E80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5572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0D441-EAB8-A7E5-2F71-F9622747F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66C29-22E1-CB60-AA8C-4389F37B20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E72E08-27B1-6EE5-6B94-E1B773C8B5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BE4E5B-4246-C8C8-14CB-C2DAD3831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4E7CA6-B8CE-5786-E717-D0A4F124F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DB2620-52A5-3BF1-52EB-C80CFFE1F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433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D63B1-F60D-823D-EA90-20A014DC8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974923-CFD8-7779-6FB4-2E163EA4E9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59EF4B-F422-0B9D-F3CA-A920909EEE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DE8592-C55D-5AFB-8C72-279551FAFA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721EA-0341-16C2-31C2-3B6904A186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187673-C064-E3CD-C380-C041DFDCF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480E16F-26A4-9FAF-DF0F-B1B6BC0C8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25A8FC-0259-9E1B-19BE-258AE1C99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23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DBFC3-5106-40BA-C842-EB6CB85F1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D695B5-01B8-ACE8-24A9-57645E207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794B5E-CE95-B222-88F9-6214DAB19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FCEA0D-2DC8-CEA6-D95F-D70D023BD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4165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77F5C6-C05B-532A-B48A-C31B6F2E6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3CB36B-7973-CB81-E4B5-B41F1040E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15F6A9-9933-C867-CA05-3CC9C5BDB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767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373C6-CB2C-3501-634D-5BD4D1F76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0F070-0A0C-0A8A-62F1-3B763D2142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2F877E-C4D0-1B67-0693-336548F340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29B1CC-0F10-331B-5921-F8D1B8CD5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4726E6-3363-1A53-172E-C1BB9DC28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932E4B-F4BE-96D0-B770-7D3E6809E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569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D63D8-6547-36AA-FBE0-BAA610ABE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F636D2-BBBF-EC9B-4864-065378FAC7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3315FB-C6D4-B743-EAE4-9896E41FC1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EA5590-7FE5-259F-615D-053478872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5D844B-9DF6-DA7B-3E1A-347EDEB78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5F07DA-C1FA-86D8-3964-BD9FA2295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743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0774E-AFF9-472E-D930-CCEDA656B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11E77F-C9A3-B98A-25A5-2D35D08F74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CDA9DF-D75B-A3EC-11BA-27DB0E1A5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2CBBE-318D-C846-42A1-557552CE0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4C8340-D80C-C400-94E8-2B2F0160B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0569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58DE8E-378D-0366-222B-D7565F802D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F31A86-2EBF-81CC-8443-ABC311182B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4A2A28-FD76-684D-5975-A931F32D1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B3956-2A73-0F13-DABE-BF2F1AAEA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01192-9EA1-C177-5304-2C6799892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858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71B824-994A-0916-B046-4F045D7A4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3B20B5-C464-6F23-D5A4-2EA0B96957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011B3-954C-3EEF-0877-986D9FC0BB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79C2E1-833F-46B1-9B12-C4DA11FEBF4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F87C6-1444-2D5E-F2E0-8BACC6B934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D1C891-BA1F-09CA-D785-0F30B550E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9AA09B-EF47-89B0-2AF1-618EC35BC9C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10287000" y="63500"/>
            <a:ext cx="1873250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Unclassified - Non-Classifié</a:t>
            </a:r>
          </a:p>
        </p:txBody>
      </p:sp>
    </p:spTree>
    <p:extLst>
      <p:ext uri="{BB962C8B-B14F-4D97-AF65-F5344CB8AC3E}">
        <p14:creationId xmlns:p14="http://schemas.microsoft.com/office/powerpoint/2010/main" val="2721527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89B36-D0A7-42C5-F38B-0997D48150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Hake, age and environmental factors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90779C-4B57-C0BE-1B26-C1F40B86E8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48F92-332B-6098-55AF-68A064447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 </a:t>
            </a:r>
            <a:r>
              <a:rPr lang="en-US" dirty="0" err="1"/>
              <a:t>Cren’s</a:t>
            </a:r>
            <a:r>
              <a:rPr lang="en-US" dirty="0"/>
              <a:t> body condition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07AD4-D7D4-E303-FD2F-1903358733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the length-weight relationship and the parameters a and b: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W = </a:t>
            </a:r>
            <a:r>
              <a:rPr lang="en-US" dirty="0" err="1"/>
              <a:t>aL^b</a:t>
            </a:r>
            <a:endParaRPr lang="en-US" dirty="0"/>
          </a:p>
          <a:p>
            <a:endParaRPr lang="en-US" dirty="0"/>
          </a:p>
          <a:p>
            <a:r>
              <a:rPr lang="en-US" dirty="0"/>
              <a:t>Can use the a and b parameters to then estimate expected weight W`, and Le </a:t>
            </a:r>
            <a:r>
              <a:rPr lang="en-US" dirty="0" err="1"/>
              <a:t>Cren’s</a:t>
            </a:r>
            <a:r>
              <a:rPr lang="en-US" dirty="0"/>
              <a:t> body condition metric, K, as:</a:t>
            </a:r>
          </a:p>
          <a:p>
            <a:endParaRPr lang="en-US" dirty="0"/>
          </a:p>
          <a:p>
            <a:pPr marL="457200" lvl="1" indent="0">
              <a:buNone/>
            </a:pPr>
            <a:r>
              <a:rPr lang="en-US" dirty="0"/>
              <a:t>K = </a:t>
            </a:r>
            <a:r>
              <a:rPr lang="en-US" dirty="0" err="1"/>
              <a:t>W</a:t>
            </a:r>
            <a:r>
              <a:rPr lang="en-US" baseline="-25000" dirty="0" err="1"/>
              <a:t>obs</a:t>
            </a:r>
            <a:r>
              <a:rPr lang="en-US" dirty="0"/>
              <a:t> / W`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504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4461000-CD6C-C489-4AF9-496580DE2C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199" y="858981"/>
            <a:ext cx="5324747" cy="57311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99787E-C5E9-7C55-BF99-5D920886E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 </a:t>
            </a:r>
            <a:r>
              <a:rPr lang="en-US" dirty="0" err="1"/>
              <a:t>Cren’s</a:t>
            </a:r>
            <a:r>
              <a:rPr lang="en-US" dirty="0"/>
              <a:t> body condition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36CF5-35F6-7683-E969-73033189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96F4006-B815-AF60-A4C3-097F022B6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594" y="2576945"/>
            <a:ext cx="5945824" cy="3338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903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9EE95-29B0-444E-862E-C8EBBB46B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8A37B-F21C-0AC6-B0A5-6E00BCBF6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 data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0EC79-74F3-B72A-D66F-4C024AA7B0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PDO and NPGO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C554CA-1D2A-2FEB-F754-E7533274B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20" y="2844799"/>
            <a:ext cx="5720956" cy="36480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1B2C31F-292E-17AE-72DF-3499C1211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026" y="2844799"/>
            <a:ext cx="5720956" cy="3648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679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1E60C-20CB-5321-9E5D-94DB47F4B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238A7-6716-640F-7161-17FECB540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 data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A12D8A-C703-C271-5D8B-3E9500284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ONI and NPI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F0C0A6-3A03-C95A-6F50-3F21A82E0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31" y="2993641"/>
            <a:ext cx="5766286" cy="36769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56E5472-1329-A51D-495D-A204CDAE3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993641"/>
            <a:ext cx="5766287" cy="367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096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E8C97-63DB-8E2C-6558-7AAEE8C49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D260B-519A-A60D-482B-91274A411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 data plots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7F4BCF-CA3A-6797-CA45-7DDBC5198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775" y="1663701"/>
            <a:ext cx="7493033" cy="482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47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DBE0E-8B45-0534-A6DA-36146FB8D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FA31F-982D-D5AE-8814-E40816E41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6CA686-B73E-5491-1DF5-9CCFF773B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B8349C-3E71-C291-2C40-F1866F801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417" y="1450109"/>
            <a:ext cx="9595749" cy="5042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6390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DABBD-215C-FE37-0AAF-544024657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CD09B-71F2-4CDA-48E6-991626E4A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7A0296-F48B-C5C2-2F06-B58DBC213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B044E2-5DC3-BBD6-04B4-EEC3D9F0AA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309" y="1399603"/>
            <a:ext cx="9901382" cy="5203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273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1653F-35B4-FBE9-0B28-2017C45D6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1EEDE-8532-2E5D-49DB-FAF617B6E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B2EDEE-60D4-186D-0710-668519A7E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255" y="1546341"/>
            <a:ext cx="8811490" cy="4630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296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B299D-3070-B03A-6039-34685C748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7E5C3-6A63-10AA-1280-022AC8750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 data plots – US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9E3529-BD8B-027B-CDD6-9F00584D5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3578" y="1475632"/>
            <a:ext cx="7784844" cy="5017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7934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533FE-2750-141E-9C8C-562999CA4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EE8FA-5A59-1FA1-FAA1-0FE4373DF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 data plots – Can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424EF2-198A-1D85-8612-ED226BFA40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776" y="1735439"/>
            <a:ext cx="7381722" cy="4757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386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53C5E-E8C5-1617-78E1-FC5D8747D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Bayesian model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43D05-A3EB-146E-88BB-0F7D4C7754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9268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618CE-196B-4610-700F-D477A87C3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data – posterior distribution of environmental covariates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D7370-E9A1-8842-4C68-AE1912AD72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CB5E670-C7EF-4E71-1F74-D1DE16BC2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064" y="1690688"/>
            <a:ext cx="8274620" cy="4869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7518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10814-80D6-9893-902D-1A42DBB0E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DCAE1-14C1-1D63-D6BA-9384B18DB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Just US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A9FFC-407F-4868-B015-D96FF80D1C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31A3B09-6505-D02B-0EF4-B0F9F6CE7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1510533"/>
            <a:ext cx="7704803" cy="4982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6968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F0C41-4BDC-C2E4-6A88-0FAA8A9A1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Just Canada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B1119-DC78-09C3-7CBC-BEE59913D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2A1E25-CE59-3857-AA1F-BCEA4CE6FB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3329" y="1432688"/>
            <a:ext cx="8400766" cy="525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8414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369A2-DEC3-515B-5BE1-1D8AA5255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 age and env covariates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CA4288-C993-A07D-5D7D-F51FFD030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monthly indices, averaged Apr – June</a:t>
            </a:r>
          </a:p>
          <a:p>
            <a:r>
              <a:rPr lang="en-US" dirty="0"/>
              <a:t>BI and NPI are annual indices</a:t>
            </a:r>
          </a:p>
        </p:txBody>
      </p:sp>
    </p:spTree>
    <p:extLst>
      <p:ext uri="{BB962C8B-B14F-4D97-AF65-F5344CB8AC3E}">
        <p14:creationId xmlns:p14="http://schemas.microsoft.com/office/powerpoint/2010/main" val="37129246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176ED-83BB-5EBE-45EE-66C373F83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 age with current year indices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EB13B-F738-1BF9-3D36-5754F3F98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9A0387-19E8-6F0E-B7CB-2FABA40E6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212" y="1520031"/>
            <a:ext cx="9553575" cy="496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2080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7B489-3000-3E4E-7AD8-0C23ED9A8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383B-EA5B-A45E-8E01-56CAA461C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 age with prior year indices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727A3-90A8-9006-BA43-2301FC0E7E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CC9468-F924-1B29-CE48-7EBDC11878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212" y="1530350"/>
            <a:ext cx="9553575" cy="496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8539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74EF5-9152-C1CB-5024-DF20EC0C9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913" y="84740"/>
            <a:ext cx="10515600" cy="1325563"/>
          </a:xfrm>
        </p:spPr>
        <p:txBody>
          <a:bodyPr/>
          <a:lstStyle/>
          <a:p>
            <a:r>
              <a:rPr lang="en-US" dirty="0"/>
              <a:t>Annual mean age with env covariates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69C7D-117B-E5CF-E117-185BC9357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35CE2F-5329-6B02-B0B3-8EEE4CD6E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3" y="1571370"/>
            <a:ext cx="5956238" cy="492150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A39B213-D867-8C9B-4E79-4E845AAC3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639" y="1503491"/>
            <a:ext cx="5779071" cy="49893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4C87C66-D5D4-E059-9326-536F7A75785E}"/>
              </a:ext>
            </a:extLst>
          </p:cNvPr>
          <p:cNvSpPr txBox="1"/>
          <p:nvPr/>
        </p:nvSpPr>
        <p:spPr>
          <a:xfrm>
            <a:off x="671121" y="1177358"/>
            <a:ext cx="1500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Annual mean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029EBF-8225-99EE-0EBF-0EC9C0F0050D}"/>
              </a:ext>
            </a:extLst>
          </p:cNvPr>
          <p:cNvSpPr txBox="1"/>
          <p:nvPr/>
        </p:nvSpPr>
        <p:spPr>
          <a:xfrm>
            <a:off x="6892414" y="1121505"/>
            <a:ext cx="2720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Spring mean (April – June)</a:t>
            </a:r>
          </a:p>
        </p:txBody>
      </p:sp>
    </p:spTree>
    <p:extLst>
      <p:ext uri="{BB962C8B-B14F-4D97-AF65-F5344CB8AC3E}">
        <p14:creationId xmlns:p14="http://schemas.microsoft.com/office/powerpoint/2010/main" val="42224449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204AC-FB7D-0970-F42A-67583A6AF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EC6780-3C58-00CC-74AC-BFF12E094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PDO negative effects on body condition (+</a:t>
            </a:r>
            <a:r>
              <a:rPr lang="en-US" dirty="0" err="1"/>
              <a:t>ve</a:t>
            </a:r>
            <a:r>
              <a:rPr lang="en-US" dirty="0"/>
              <a:t> PDO = thinner fish)</a:t>
            </a:r>
          </a:p>
          <a:p>
            <a:r>
              <a:rPr lang="en-US" dirty="0"/>
              <a:t>PDO slight positive effects on mean age (+</a:t>
            </a:r>
            <a:r>
              <a:rPr lang="en-US" dirty="0" err="1"/>
              <a:t>ve</a:t>
            </a:r>
            <a:r>
              <a:rPr lang="en-US" dirty="0"/>
              <a:t> PDO = older </a:t>
            </a:r>
            <a:r>
              <a:rPr lang="en-US" dirty="0" err="1"/>
              <a:t>pop’n</a:t>
            </a:r>
            <a:r>
              <a:rPr lang="en-US" dirty="0"/>
              <a:t>)</a:t>
            </a:r>
          </a:p>
          <a:p>
            <a:r>
              <a:rPr lang="en-US" dirty="0"/>
              <a:t>NPGO negative effects on mean age (+</a:t>
            </a:r>
            <a:r>
              <a:rPr lang="en-US" dirty="0" err="1"/>
              <a:t>ve</a:t>
            </a:r>
            <a:r>
              <a:rPr lang="en-US" dirty="0"/>
              <a:t> NPGO = younger </a:t>
            </a:r>
            <a:r>
              <a:rPr lang="en-US" dirty="0" err="1"/>
              <a:t>pop’n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+</a:t>
            </a:r>
            <a:r>
              <a:rPr lang="en-US" dirty="0" err="1"/>
              <a:t>ve</a:t>
            </a:r>
            <a:r>
              <a:rPr lang="en-US" dirty="0"/>
              <a:t> PDO could lead to less </a:t>
            </a:r>
            <a:r>
              <a:rPr lang="en-US" dirty="0" err="1"/>
              <a:t>favourable</a:t>
            </a:r>
            <a:r>
              <a:rPr lang="en-US" dirty="0"/>
              <a:t> (warmer?) conditions, thinner fish, lower recruitment, increased age </a:t>
            </a:r>
          </a:p>
          <a:p>
            <a:r>
              <a:rPr lang="en-US" dirty="0"/>
              <a:t>+</a:t>
            </a:r>
            <a:r>
              <a:rPr lang="en-US" dirty="0" err="1"/>
              <a:t>ve</a:t>
            </a:r>
            <a:r>
              <a:rPr lang="en-US" dirty="0"/>
              <a:t> NPGO could lead to greater productivity along CC thus increasing recruitment and lowering (</a:t>
            </a:r>
            <a:r>
              <a:rPr lang="en-US" dirty="0" err="1"/>
              <a:t>ie</a:t>
            </a:r>
            <a:r>
              <a:rPr lang="en-US" dirty="0"/>
              <a:t>. younger) mean age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35113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0D08C-72B6-4DD4-E3BE-211064DEA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5B1FA-525A-B4CD-020C-63DD73F433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CDE47D-5478-D00A-87A3-A4A5E72B6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6244" y="1400021"/>
            <a:ext cx="6915150" cy="496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2276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0A8E1-9B56-931D-BA68-1C8F5F138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91A8A35-27A4-83DC-579C-43BD96E781B8}"/>
              </a:ext>
            </a:extLst>
          </p:cNvPr>
          <p:cNvSpPr txBox="1"/>
          <p:nvPr/>
        </p:nvSpPr>
        <p:spPr>
          <a:xfrm>
            <a:off x="678426" y="462116"/>
            <a:ext cx="935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E88BD-C8BD-AC1B-F099-1C07AECAB55A}"/>
              </a:ext>
            </a:extLst>
          </p:cNvPr>
          <p:cNvSpPr txBox="1"/>
          <p:nvPr/>
        </p:nvSpPr>
        <p:spPr>
          <a:xfrm>
            <a:off x="6813755" y="550606"/>
            <a:ext cx="97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US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1E5FCEC-54BD-057F-E982-A424A32F5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0977" y="1001662"/>
            <a:ext cx="6134100" cy="55626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82D3A8-8789-2BF4-CC3A-0E647BF7E6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6" y="1288270"/>
            <a:ext cx="5779071" cy="4989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3734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0C2088E-1C3B-6D5F-E5B5-F0A1C0013846}"/>
              </a:ext>
            </a:extLst>
          </p:cNvPr>
          <p:cNvSpPr txBox="1"/>
          <p:nvPr/>
        </p:nvSpPr>
        <p:spPr>
          <a:xfrm>
            <a:off x="678426" y="462116"/>
            <a:ext cx="935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1F02C-B080-33A6-0396-DCE776DF34A7}"/>
              </a:ext>
            </a:extLst>
          </p:cNvPr>
          <p:cNvSpPr txBox="1"/>
          <p:nvPr/>
        </p:nvSpPr>
        <p:spPr>
          <a:xfrm>
            <a:off x="6361472" y="402981"/>
            <a:ext cx="1476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Canada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1E0CEEC-B7FD-EEF2-C7AE-52F43876C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90" y="1159362"/>
            <a:ext cx="5779071" cy="49893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D406D67-1CEF-C6F5-B1DD-B7F80C0F9C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410" y="872754"/>
            <a:ext cx="61341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4639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099BD-4E63-9C99-EF1E-ADFEDE751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3340C-F7AC-6021-9475-4E439BD30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2830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E8B6F-B603-525C-4310-5D9717D8C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FB9DB-C069-57D8-E94D-256FC60CC8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8356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608F8-BBCA-D4E4-04B8-D6FAF5965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BC5E0-A2A5-68A6-C41E-630D4281CB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117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CF44C-CD1F-7FFD-1178-6E1FEF57E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F1611-A3B8-8B48-4802-F7C9F91FC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5859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CD289-7E48-5C9A-EFA7-3D935118A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B9F9F-32C3-BF94-4533-D143344C9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6756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D8A87-80DC-C180-D3F1-FFE60E844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64F4C-0661-F4C6-1DB0-87302985C1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6165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3313D-9410-7606-DB19-CE63EE0B4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0C77D-E59B-5D9E-C679-3B98F96863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4732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016EE-8CCC-98C7-EBF4-3DD8648C6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EF53E-840B-45A6-AEE4-B33A69894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1339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5FD4B-716A-8585-F669-ED515BE77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Bayesian length weight diagnostic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7D47F-8C8E-E942-FC4A-B62B138417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1520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7608-1C72-5E9F-823C-10FA91319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801D6-7DE0-58BB-F6B8-4666BC42F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0792CB-DE3C-D67D-AAA4-B0DCA3555C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161" y="1825625"/>
            <a:ext cx="8799871" cy="474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7294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A7936-CD51-60B3-C438-8309BFB05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C91EE-F35D-6863-5C80-C0CDB72A7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38E8CD-F2C8-6FB0-55E8-CC35AA46A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366"/>
            <a:ext cx="12192000" cy="6573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969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0E158-5373-FD1E-8616-70CE1E235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6DAA8-4FF8-F4F5-F4F6-6AA9B29605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40B2A-F67F-F1DF-3D2F-04137B349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187" y="1751010"/>
            <a:ext cx="8347587" cy="4500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8433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36F36-296F-ACFD-11AB-AD33FE4DE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B85F2-15DC-8ABB-37CB-8DE3F90A2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2783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C70B7-F440-3440-6BDE-10E30CC1E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F8A5E-C64E-2A66-1B32-F82DB1BA0C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84FD34-8711-0A17-6BDB-FC616EFEF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1684" y="196645"/>
            <a:ext cx="6884019" cy="6661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323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1DFB2-D03A-5936-A615-7C4C79EE6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Rebecca’s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0C5A1-DEDD-79E5-7AB8-EA6839BBBD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6A444A4-9B5C-037E-72F5-BFB583470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2844" y="365125"/>
            <a:ext cx="5904118" cy="59041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652092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8255A-61DF-05D3-DC34-C85BF9EEB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3F5FE-D531-5780-2EC3-B39CF2B67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C09531-393B-FA8E-BC4F-FDEB86BBE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32" y="1506028"/>
            <a:ext cx="10087897" cy="4986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1084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F899D-7172-97F0-AEB9-22F235288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331C5-05F1-E46E-09B0-CA9D5E940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532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3EF55-EB33-0AE4-2506-D01C6C8E5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9DFE2-83DC-5A0B-AD55-CF7E09B08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619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18556</TotalTime>
  <Words>289</Words>
  <Application>Microsoft Office PowerPoint</Application>
  <PresentationFormat>Widescreen</PresentationFormat>
  <Paragraphs>53</Paragraphs>
  <Slides>41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5" baseType="lpstr">
      <vt:lpstr>Aptos</vt:lpstr>
      <vt:lpstr>Aptos Display</vt:lpstr>
      <vt:lpstr>Arial</vt:lpstr>
      <vt:lpstr>Office Theme</vt:lpstr>
      <vt:lpstr>Hake, age and environmental factors</vt:lpstr>
      <vt:lpstr>Le Cren’s body condition</vt:lpstr>
      <vt:lpstr>Le Cren’s body condition</vt:lpstr>
      <vt:lpstr>Env data plots</vt:lpstr>
      <vt:lpstr>Env data plots</vt:lpstr>
      <vt:lpstr>Env data plots</vt:lpstr>
      <vt:lpstr>All data</vt:lpstr>
      <vt:lpstr>US data</vt:lpstr>
      <vt:lpstr>Can data</vt:lpstr>
      <vt:lpstr>Env data plots – US Data</vt:lpstr>
      <vt:lpstr>Env data plots – Can Data</vt:lpstr>
      <vt:lpstr>Bayesian model output</vt:lpstr>
      <vt:lpstr>All data – posterior distribution of environmental covariates</vt:lpstr>
      <vt:lpstr>Just US data</vt:lpstr>
      <vt:lpstr>Just Canada data</vt:lpstr>
      <vt:lpstr>Mean age and env covariates</vt:lpstr>
      <vt:lpstr>Mean age with current year indices</vt:lpstr>
      <vt:lpstr>Mean age with prior year indices</vt:lpstr>
      <vt:lpstr>Annual mean age with env covariates</vt:lpstr>
      <vt:lpstr>Summary of findings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Bayesian length weight diagnostic plots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Rebecca’s plot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Tai, Travis (DFO/MPO)</dc:creator>
  <cp:lastModifiedBy>Tai, Travis (DFO/MPO)</cp:lastModifiedBy>
  <cp:revision>13</cp:revision>
  <dcterms:created xsi:type="dcterms:W3CDTF">2026-07-30T12:23:06Z</dcterms:created>
  <dcterms:modified xsi:type="dcterms:W3CDTF">2026-09-28T20:32:54Z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e6cdb53-fd15-486d-84de-c510e3a62203_Enabled">
    <vt:lpwstr>true</vt:lpwstr>
  </property>
  <property fmtid="{D5CDD505-2E9C-101B-9397-08002B2CF9AE}" pid="3" name="MSIP_Label_4e6cdb53-fd15-486d-84de-c510e3a62203_SetDate">
    <vt:lpwstr>2026-07-30T22:30:28Z</vt:lpwstr>
  </property>
  <property fmtid="{D5CDD505-2E9C-101B-9397-08002B2CF9AE}" pid="4" name="MSIP_Label_4e6cdb53-fd15-486d-84de-c510e3a62203_Method">
    <vt:lpwstr>Standard</vt:lpwstr>
  </property>
  <property fmtid="{D5CDD505-2E9C-101B-9397-08002B2CF9AE}" pid="5" name="MSIP_Label_4e6cdb53-fd15-486d-84de-c510e3a62203_Name">
    <vt:lpwstr>UNCLASSIFIED - NON-CLASSIFIÉ</vt:lpwstr>
  </property>
  <property fmtid="{D5CDD505-2E9C-101B-9397-08002B2CF9AE}" pid="6" name="MSIP_Label_4e6cdb53-fd15-486d-84de-c510e3a62203_SiteId">
    <vt:lpwstr>1594fdae-a1d9-4405-915d-011467234338</vt:lpwstr>
  </property>
  <property fmtid="{D5CDD505-2E9C-101B-9397-08002B2CF9AE}" pid="7" name="MSIP_Label_4e6cdb53-fd15-486d-84de-c510e3a62203_ActionId">
    <vt:lpwstr>3f9ce69f-f888-48dd-9fa7-6f245dece170</vt:lpwstr>
  </property>
  <property fmtid="{D5CDD505-2E9C-101B-9397-08002B2CF9AE}" pid="8" name="MSIP_Label_4e6cdb53-fd15-486d-84de-c510e3a62203_ContentBits">
    <vt:lpwstr>1</vt:lpwstr>
  </property>
  <property fmtid="{D5CDD505-2E9C-101B-9397-08002B2CF9AE}" pid="9" name="MSIP_Label_4e6cdb53-fd15-486d-84de-c510e3a62203_Tag">
    <vt:lpwstr>10, 3, 0, 1</vt:lpwstr>
  </property>
  <property fmtid="{D5CDD505-2E9C-101B-9397-08002B2CF9AE}" pid="10" name="ClassificationContentMarkingHeaderLocations">
    <vt:lpwstr>Office Theme:8</vt:lpwstr>
  </property>
  <property fmtid="{D5CDD505-2E9C-101B-9397-08002B2CF9AE}" pid="11" name="ClassificationContentMarkingHeaderText">
    <vt:lpwstr>Unclassified - Non-Classifié</vt:lpwstr>
  </property>
</Properties>
</file>