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63" r:id="rId3"/>
    <p:sldId id="257" r:id="rId4"/>
    <p:sldId id="258" r:id="rId5"/>
    <p:sldId id="259" r:id="rId6"/>
    <p:sldId id="264" r:id="rId7"/>
    <p:sldId id="271" r:id="rId8"/>
    <p:sldId id="267" r:id="rId9"/>
    <p:sldId id="268" r:id="rId10"/>
    <p:sldId id="299" r:id="rId11"/>
    <p:sldId id="298" r:id="rId12"/>
    <p:sldId id="300" r:id="rId13"/>
    <p:sldId id="269" r:id="rId14"/>
    <p:sldId id="270" r:id="rId15"/>
    <p:sldId id="266" r:id="rId16"/>
    <p:sldId id="260" r:id="rId17"/>
    <p:sldId id="272" r:id="rId18"/>
    <p:sldId id="282" r:id="rId19"/>
    <p:sldId id="274" r:id="rId20"/>
    <p:sldId id="275" r:id="rId21"/>
    <p:sldId id="277" r:id="rId22"/>
    <p:sldId id="276" r:id="rId23"/>
    <p:sldId id="278" r:id="rId24"/>
    <p:sldId id="279" r:id="rId25"/>
    <p:sldId id="285" r:id="rId26"/>
    <p:sldId id="286" r:id="rId27"/>
    <p:sldId id="287" r:id="rId28"/>
    <p:sldId id="280" r:id="rId29"/>
    <p:sldId id="281" r:id="rId30"/>
    <p:sldId id="288" r:id="rId31"/>
    <p:sldId id="289" r:id="rId32"/>
    <p:sldId id="283" r:id="rId33"/>
    <p:sldId id="284" r:id="rId34"/>
    <p:sldId id="293" r:id="rId35"/>
    <p:sldId id="291" r:id="rId36"/>
    <p:sldId id="292" r:id="rId37"/>
    <p:sldId id="294" r:id="rId38"/>
    <p:sldId id="295" r:id="rId39"/>
    <p:sldId id="296" r:id="rId40"/>
    <p:sldId id="29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0" autoAdjust="0"/>
    <p:restoredTop sz="94302" autoAdjust="0"/>
  </p:normalViewPr>
  <p:slideViewPr>
    <p:cSldViewPr snapToGrid="0">
      <p:cViewPr varScale="1">
        <p:scale>
          <a:sx n="78" d="100"/>
          <a:sy n="78" d="100"/>
        </p:scale>
        <p:origin x="1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585C4-8FDE-44AD-AB8B-4802EADEEE9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AF6F9-19A8-4B2B-96C4-42992BE88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04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AF6F9-19A8-4B2B-96C4-42992BE88A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75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look at specific months during sampling – April potentially?</a:t>
            </a:r>
          </a:p>
          <a:p>
            <a:r>
              <a:rPr lang="en-US" dirty="0"/>
              <a:t>Hypotheses of what the driving mechanisms are for the trends with age changes.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AF6F9-19A8-4B2B-96C4-42992BE88A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15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AF6F9-19A8-4B2B-96C4-42992BE88A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41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8B54F-4FB1-7F62-A5FD-28078E5C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D0216-D2E0-8F28-9397-501B4B400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E8413-AB0D-26DC-0B3C-05E603FFA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7D058-395D-DF05-2C81-6122843EC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AF6F9-19A8-4B2B-96C4-42992BE88A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28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AF6F9-19A8-4B2B-96C4-42992BE88AC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10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BBD3-A0D2-C3E1-5D19-38AC35826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BD91C-6756-2EBA-4AA8-3DE267B36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A7CA0-3E06-3ECB-744F-4F55E7A9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B58F1-829A-4484-6F2A-60CE14072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3B6A3-1983-7C7E-082D-8A44269A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5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95199-D70D-378C-6C28-E027BE61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94B30-4EC8-89A2-B0AA-2FBA3AEB2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5BD17-C6F7-CC56-9E3C-E20F1164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A7DCF-7365-5ABE-86BD-6BAA04A4F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E3308-67B2-C0EB-584F-12574F59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67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8265C-603D-7A8E-4626-8749424F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6556F-E8BC-7F62-2574-97C21C80A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28180-F535-6DDC-3364-708C8D0AC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16977-72EB-324A-09CC-20E8B6A1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84D63-6FE9-2341-7D5D-A84475E80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57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D441-EAB8-A7E5-2F71-F9622747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6C29-22E1-CB60-AA8C-4389F37B2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72E08-27B1-6EE5-6B94-E1B773C8B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E4E5B-4246-C8C8-14CB-C2DAD383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E7CA6-B8CE-5786-E717-D0A4F124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B2620-52A5-3BF1-52EB-C80CFFE1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33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63B1-F60D-823D-EA90-20A014DC8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74923-CFD8-7779-6FB4-2E163EA4E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9EF4B-F422-0B9D-F3CA-A920909EE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DE8592-C55D-5AFB-8C72-279551FAF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721EA-0341-16C2-31C2-3B6904A18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187673-C064-E3CD-C380-C041DFDCF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80E16F-26A4-9FAF-DF0F-B1B6BC0C8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5A8FC-0259-9E1B-19BE-258AE1C9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2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BFC3-5106-40BA-C842-EB6CB85F1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D695B5-01B8-ACE8-24A9-57645E20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94B5E-CE95-B222-88F9-6214DAB1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FCEA0D-2DC8-CEA6-D95F-D70D023B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1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77F5C6-C05B-532A-B48A-C31B6F2E6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CB36B-7973-CB81-E4B5-B41F1040E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5F6A9-9933-C867-CA05-3CC9C5BD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67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373C6-CB2C-3501-634D-5BD4D1F7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0F070-0A0C-0A8A-62F1-3B763D214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F877E-C4D0-1B67-0693-336548F34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9B1CC-0F10-331B-5921-F8D1B8CD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726E6-3363-1A53-172E-C1BB9DC2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32E4B-F4BE-96D0-B770-7D3E6809E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69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63D8-6547-36AA-FBE0-BAA610ABE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F636D2-BBBF-EC9B-4864-065378FAC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315FB-C6D4-B743-EAE4-9896E41FC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A5590-7FE5-259F-615D-05347887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844B-9DF6-DA7B-3E1A-347EDEB78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F07DA-C1FA-86D8-3964-BD9FA229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4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774E-AFF9-472E-D930-CCEDA656B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1E77F-C9A3-B98A-25A5-2D35D08F7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DA9DF-D75B-A3EC-11BA-27DB0E1A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2CBBE-318D-C846-42A1-557552CE0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C8340-D80C-C400-94E8-2B2F0160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56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58DE8E-378D-0366-222B-D7565F802D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31A86-2EBF-81CC-8443-ABC311182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A2A28-FD76-684D-5975-A931F32D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B3956-2A73-0F13-DABE-BF2F1AAEA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1192-9EA1-C177-5304-2C679989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5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1B824-994A-0916-B046-4F045D7A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B20B5-C464-6F23-D5A4-2EA0B9695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011B3-954C-3EEF-0877-986D9FC0B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9C2E1-833F-46B1-9B12-C4DA11FEBF4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F87C6-1444-2D5E-F2E0-8BACC6B93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C891-BA1F-09CA-D785-0F30B550E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B5354-1540-4E33-9F42-54E4CCB1A0F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9AA09B-EF47-89B0-2AF1-618EC35BC9C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0287000" y="63500"/>
            <a:ext cx="18732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Unclassified - Non-Classifié</a:t>
            </a:r>
          </a:p>
        </p:txBody>
      </p:sp>
    </p:spTree>
    <p:extLst>
      <p:ext uri="{BB962C8B-B14F-4D97-AF65-F5344CB8AC3E}">
        <p14:creationId xmlns:p14="http://schemas.microsoft.com/office/powerpoint/2010/main" val="272152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9B36-D0A7-42C5-F38B-0997D48150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Hake, age and environmental factors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90779C-4B57-C0BE-1B26-C1F40B86E8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48F92-332B-6098-55AF-68A06444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Cren’s</a:t>
            </a:r>
            <a:r>
              <a:rPr lang="en-US" dirty="0"/>
              <a:t> body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07AD4-D7D4-E303-FD2F-190335873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the length-weight relationship and the parameters a and b: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W = </a:t>
            </a:r>
            <a:r>
              <a:rPr lang="en-US" dirty="0" err="1"/>
              <a:t>aL^b</a:t>
            </a:r>
            <a:endParaRPr lang="en-US" dirty="0"/>
          </a:p>
          <a:p>
            <a:endParaRPr lang="en-US" dirty="0"/>
          </a:p>
          <a:p>
            <a:r>
              <a:rPr lang="en-US" dirty="0"/>
              <a:t>Can use the a and b parameters to then estimate expected weight W`, and Le </a:t>
            </a:r>
            <a:r>
              <a:rPr lang="en-US" dirty="0" err="1"/>
              <a:t>Cren’s</a:t>
            </a:r>
            <a:r>
              <a:rPr lang="en-US" dirty="0"/>
              <a:t> body condition metric, K, as: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K = </a:t>
            </a:r>
            <a:r>
              <a:rPr lang="en-US" dirty="0" err="1"/>
              <a:t>W</a:t>
            </a:r>
            <a:r>
              <a:rPr lang="en-US" baseline="-25000" dirty="0" err="1"/>
              <a:t>obs</a:t>
            </a:r>
            <a:r>
              <a:rPr lang="en-US" dirty="0"/>
              <a:t> / W`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04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787E-C5E9-7C55-BF99-5D920886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Cren’s</a:t>
            </a:r>
            <a:r>
              <a:rPr lang="en-US" dirty="0"/>
              <a:t> body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36CF5-35F6-7683-E969-73033189F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BB72E-5078-F9EF-E301-47A247313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57" y="2853310"/>
            <a:ext cx="5710343" cy="3033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B8F54D-D854-063D-48E0-5BF85A402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217" y="365125"/>
            <a:ext cx="5485783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03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49668-4576-C6DF-0E14-E677DDA2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8DD60-D576-6D5C-4A8E-D5A4CCE23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8FF70-39B4-8EB8-824D-7EA79DCE3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12192000" cy="610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76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618CE-196B-4610-700F-D477A87C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D7370-E9A1-8842-4C68-AE1912AD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D1275-1BF9-4D34-7873-EB4F0709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585390"/>
            <a:ext cx="10031225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5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1B8AB-1F09-9E8D-CC80-1D6BAA2B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08ECD-3202-74EA-8CD6-8746BA379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1C76D7-E6A3-3DFA-6BF8-C6973F9D1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14" y="542522"/>
            <a:ext cx="10012172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40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4EF5-9152-C1CB-5024-DF20EC0C9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 median age with env covariates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69C7D-117B-E5CF-E117-185BC9357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163E0-F512-824F-9672-2DC2B199B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796" y="1120878"/>
            <a:ext cx="54483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44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04AC-FB7D-0970-F42A-67583A6AF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C6780-3C58-00CC-74AC-BFF12E094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PDO negative effects on body condition</a:t>
            </a:r>
          </a:p>
          <a:p>
            <a:r>
              <a:rPr lang="en-US" dirty="0"/>
              <a:t>PDO slight positive effects on mean age (+</a:t>
            </a:r>
            <a:r>
              <a:rPr lang="en-US" dirty="0" err="1"/>
              <a:t>ve</a:t>
            </a:r>
            <a:r>
              <a:rPr lang="en-US" dirty="0"/>
              <a:t> PDO = older </a:t>
            </a:r>
            <a:r>
              <a:rPr lang="en-US" dirty="0" err="1"/>
              <a:t>pop’n</a:t>
            </a:r>
            <a:r>
              <a:rPr lang="en-US" dirty="0"/>
              <a:t>)</a:t>
            </a:r>
          </a:p>
          <a:p>
            <a:r>
              <a:rPr lang="en-US" dirty="0"/>
              <a:t>NPGO negative effects on mean age (+</a:t>
            </a:r>
            <a:r>
              <a:rPr lang="en-US" dirty="0" err="1"/>
              <a:t>ve</a:t>
            </a:r>
            <a:r>
              <a:rPr lang="en-US" dirty="0"/>
              <a:t> NPGO = younger </a:t>
            </a:r>
            <a:r>
              <a:rPr lang="en-US" dirty="0" err="1"/>
              <a:t>pop’n</a:t>
            </a:r>
            <a:r>
              <a:rPr lang="en-US" dirty="0"/>
              <a:t>)</a:t>
            </a:r>
          </a:p>
          <a:p>
            <a:r>
              <a:rPr lang="en-US" dirty="0"/>
              <a:t>PDO and NPGO are independent orthogonal phases of EOF, but have been linked to be negatively correlated as of recent (1980)</a:t>
            </a:r>
          </a:p>
          <a:p>
            <a:r>
              <a:rPr lang="en-US" dirty="0"/>
              <a:t>Strong +</a:t>
            </a:r>
            <a:r>
              <a:rPr lang="en-US" dirty="0" err="1"/>
              <a:t>ve</a:t>
            </a:r>
            <a:r>
              <a:rPr lang="en-US" dirty="0"/>
              <a:t> NPGO could lead to greater productivity along CC thus increasing recruitment and lowering (</a:t>
            </a:r>
            <a:r>
              <a:rPr lang="en-US" dirty="0" err="1"/>
              <a:t>ie</a:t>
            </a:r>
            <a:r>
              <a:rPr lang="en-US" dirty="0"/>
              <a:t> younger) age class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511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0C41-4BDC-C2E4-6A88-0FAA8A9A1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Canada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B1119-DC78-09C3-7CBC-BEE59913D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A1E25-CE59-3857-AA1F-BCEA4CE6F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29" y="1432688"/>
            <a:ext cx="8400766" cy="525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88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722D0-414D-FC1A-F1F0-E88095A3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668B-5DF0-C981-BF4C-1EEA10CC4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Canada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63A41-F312-9FF2-3B68-61166F02B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070D0B-8981-C750-9AB9-55593E26B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29" y="1501877"/>
            <a:ext cx="8396748" cy="524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7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D0CC-1390-23CA-659C-80D238F8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Canada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CDF77-A571-9D75-D96E-4405D388D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8BBBDB-5E60-3B0F-568F-69DA7E435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733" y="1027906"/>
            <a:ext cx="6262425" cy="493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63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7A947-88C8-BDAE-580C-D3163431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C2BE-BDC0-F2CA-F531-1EB129401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Canada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8286C-F777-7B7E-7654-F16B83E67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313313-3DA2-03BF-A2A7-EA7EBC20C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547" y="0"/>
            <a:ext cx="53698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65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099BD-4E63-9C99-EF1E-ADFEDE751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3340C-F7AC-6021-9475-4E439BD30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83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3313D-9410-7606-DB19-CE63EE0B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0C77D-E59B-5D9E-C679-3B98F9686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73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16EE-8CCC-98C7-EBF4-3DD8648C6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EF53E-840B-45A6-AEE4-B33A69894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33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3BBC-76C8-E041-942E-45A5DD2F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5DEC1-7971-A827-BD84-1DF1212DD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19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BC29E-0CE6-5A4B-B6DC-1490D20B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211A9-44A1-A05E-2540-A866E02DE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0884" cy="4351338"/>
          </a:xfrm>
        </p:spPr>
        <p:txBody>
          <a:bodyPr/>
          <a:lstStyle/>
          <a:p>
            <a:r>
              <a:rPr lang="en-US" dirty="0"/>
              <a:t>Best fit model includes all factors </a:t>
            </a:r>
          </a:p>
          <a:p>
            <a:r>
              <a:rPr lang="en-US" dirty="0"/>
              <a:t>But not the best for estimating condition for use in an environmental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B0154-4B15-FBE7-66A2-B8F8E47FE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510" y="681037"/>
            <a:ext cx="5746668" cy="3194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BC5112-ADAC-F8B1-A4E9-5667ADA27D7C}"/>
              </a:ext>
            </a:extLst>
          </p:cNvPr>
          <p:cNvSpPr txBox="1"/>
          <p:nvPr/>
        </p:nvSpPr>
        <p:spPr>
          <a:xfrm>
            <a:off x="6096000" y="4191412"/>
            <a:ext cx="611566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Models: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m_lw5.1: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log_weight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~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log_length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Sex + factor(Month) + (1 | Source) + , zi=~0,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disp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=~1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m_lw5.1:     (1 | Year), zi=~0,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disp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=~1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m_lw3.1: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log_weight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~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log_length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* Sex + factor(Month) + (1 | Source) + , zi=~0,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disp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=~1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m_lw3.1:     (1 | Year), zi=~0,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disp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=~1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m_lw2.1: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log_weight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~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log_length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* Sex +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Age_yrs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factor(Month) + (1 | , zi=~0,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disp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=~1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m_lw2.1:     Source) + (1 | Year), zi=~0,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disp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=~1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m_lw1.1: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log_weight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~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log_length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* Sex +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log_length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*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Age_yrs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factor(Month) + , zi=~0,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disp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=~1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m_lw1.1:     (1 | Source) + (1 | Year), zi=~0,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disp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=~1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     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Df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   AIC     BIC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logLik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deviance 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Chisq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Chi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Df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Pr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(&gt;</a:t>
            </a: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Chisq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   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m_lw5.1 17 -309310 -309135 154672  -309344                             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m_lw3.1 18 -309761 -309575 154899  -309797  452.8      1  &lt; 2.2e-16 ***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m_lw2.1 45 -318507 -318043 159299  -318597 8800.1     27  &lt; 2.2e-16 ***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m_lw1.1 69 -322897 -322185 161518  -323035 4437.9     24  &lt; 2.2e-16 ***</a:t>
            </a:r>
          </a:p>
          <a:p>
            <a:pPr marL="0" marR="0" indent="0" algn="l" latinLnBrk="1">
              <a:buNone/>
            </a:pP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---</a:t>
            </a:r>
          </a:p>
          <a:p>
            <a:pPr marL="0" marR="0" indent="0" algn="l" latinLnBrk="1">
              <a:buNone/>
            </a:pPr>
            <a:r>
              <a:rPr lang="en-US" sz="80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Signif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389532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B99E-81C9-5BB5-AEB3-C51B918E3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 condition and 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607D8-6DDA-44AB-A7C3-49A8B0E86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71EF2-2997-961E-AE1E-77C7D837F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697" y="1825625"/>
            <a:ext cx="8912457" cy="480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22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7D33C-7FE6-C705-E013-D8B767CD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1.1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5A6B6-B613-17A6-84E3-8CEB075BA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713606-1DAA-34F0-9F5F-980A1666E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12" y="2344558"/>
            <a:ext cx="5207298" cy="3313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FA15D6-5EA3-7A28-9AE6-B84BB7567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716" y="1544879"/>
            <a:ext cx="6016572" cy="454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21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341FF-7F23-0D3E-4539-EFE4EA38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 data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88062-3F75-DCC5-86B7-65FD8A242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PDO and NPGO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D9E4B-7458-4098-D8E7-B5E389661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01" y="2243697"/>
            <a:ext cx="5957819" cy="3791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E5C601-EFE2-C792-FDD1-DD959E575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20" y="2243697"/>
            <a:ext cx="5747618" cy="365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52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4CFD7-1669-7C38-873E-DF58F18A1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622F-93A4-3F67-89D2-39E207D26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 data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F7A91-D373-9E45-6031-9EF2213D7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ONI and NPI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0D0C00-3390-6809-09F7-3D60C7DD0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" y="2408555"/>
            <a:ext cx="6150859" cy="3913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013116-1949-3C29-F322-5BC9453F9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745" y="2408555"/>
            <a:ext cx="5922256" cy="376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22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38D7B-5A56-5B4F-96C9-227BC1D55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 data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AEF29-84C5-4818-0C0D-00AD67503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571D-B07B-65A2-882D-56CE80A12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988" y="1624449"/>
            <a:ext cx="7650994" cy="486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488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3C71-A58A-21C8-9DD2-A47889265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effects env effects model with m1.1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FBA73-FE31-98A3-4C0C-0C1E5E659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628034-2E3E-78FE-DB30-F138C40A9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50" y="1371369"/>
            <a:ext cx="8386918" cy="525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27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1EAB-6A01-A0EC-A423-D6331EC5F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effects model prediction with m1.1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4E6A8-D978-3935-FB6C-C0A8648FE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8152" y="1825625"/>
            <a:ext cx="83356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49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61C4B-25ED-11E2-FFF1-3FEF3E97D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89DC-8207-252C-7FBC-4B52E27CD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effects env effects model with m7.1 (only length and sex as predictors)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09D1E-8D96-E1B8-8278-C8D9E52B4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1B1BE6-FD78-FAE2-A2EE-5FFBE12B4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81" y="1690688"/>
            <a:ext cx="9229010" cy="49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23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39167-00C2-CFC8-B826-EC070AB22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7FD77-FE84-D158-7C2B-DED173F66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effects model prediction with m7.1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59455-5662-49D7-817F-EE0061EF1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A2491D-E607-8C7D-1FB8-9D838D9E4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29" y="1393191"/>
            <a:ext cx="9674942" cy="521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42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FD4B-716A-8585-F669-ED515BE7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length weight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7D47F-8C8E-E942-FC4A-B62B13841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52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7608-1C72-5E9F-823C-10FA9131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801D6-7DE0-58BB-F6B8-4666BC42F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0792CB-DE3C-D67D-AAA4-B0DCA3555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1" y="1825625"/>
            <a:ext cx="8799871" cy="474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29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7936-CD51-60B3-C438-8309BFB0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C91EE-F35D-6863-5C80-C0CDB72A7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8E8CD-F2C8-6FB0-55E8-CC35AA46A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66"/>
            <a:ext cx="12192000" cy="657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6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E158-5373-FD1E-8616-70CE1E23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6DAA8-4FF8-F4F5-F4F6-6AA9B2960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40B2A-F67F-F1DF-3D2F-04137B349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187" y="1751010"/>
            <a:ext cx="8347587" cy="450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843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6F36-296F-ACFD-11AB-AD33FE4D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B85F2-15DC-8ABB-37CB-8DE3F90A2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78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9B4A-DFD8-2A37-025C-017682E1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posteriors of body condition and env variables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B644F-E7B6-7E7F-7E85-2CB13FFB1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310" y="1956159"/>
            <a:ext cx="8134435" cy="438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291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176ED-83BB-5EBE-45EE-66C373F8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age with current year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EB13B-F738-1BF9-3D36-5754F3F98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6C3896-E5E6-42D6-D95E-72F05C89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979742" cy="423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98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7B489-3000-3E4E-7AD8-0C23ED9A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383B-EA5B-A45E-8E01-56CAA461C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age with prior year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727A3-90A8-9006-BA43-2301FC0E7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3765D7-419C-3226-8297-BE7635CEC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16" y="1690688"/>
            <a:ext cx="10353368" cy="438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528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FAB3-006B-FCE3-0AA0-7D0F1E89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 mean age and env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E46CB-52A0-6D48-D67E-4C44D9CEC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37B1E-AF09-F142-C8D1-B92FCB742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791" y="1690688"/>
            <a:ext cx="5956238" cy="492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543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70B7-F440-3440-6BDE-10E30CC1E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F8A5E-C64E-2A66-1B32-F82DB1BA0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4FD34-8711-0A17-6BDB-FC616EFEF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684" y="196645"/>
            <a:ext cx="6884019" cy="666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23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1DFB2-D03A-5936-A615-7C4C79EE6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0C5A1-DEDD-79E5-7AB8-EA6839BBB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A444A4-9B5C-037E-72F5-BFB583470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941" y="365125"/>
            <a:ext cx="5904118" cy="590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52092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8255A-61DF-05D3-DC34-C85BF9EEB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3F5FE-D531-5780-2EC3-B39CF2B67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09531-393B-FA8E-BC4F-FDEB86BBE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" y="1506028"/>
            <a:ext cx="10087897" cy="498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08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899D-7172-97F0-AEB9-22F235288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331C5-05F1-E46E-09B0-CA9D5E940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3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EF55-EB33-0AE4-2506-D01C6C8E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9DFE2-83DC-5A0B-AD55-CF7E09B08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19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13873</TotalTime>
  <Words>595</Words>
  <Application>Microsoft Office PowerPoint</Application>
  <PresentationFormat>Widescreen</PresentationFormat>
  <Paragraphs>63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Lucida Console</vt:lpstr>
      <vt:lpstr>Office Theme</vt:lpstr>
      <vt:lpstr>Hake, age and environmental factors</vt:lpstr>
      <vt:lpstr>Le Cren’s body condition</vt:lpstr>
      <vt:lpstr>Le Cren’s body condition</vt:lpstr>
      <vt:lpstr>PowerPoint Presentation</vt:lpstr>
      <vt:lpstr>PowerPoint Presentation</vt:lpstr>
      <vt:lpstr>PowerPoint Presentation</vt:lpstr>
      <vt:lpstr>Annual median age with env covariates</vt:lpstr>
      <vt:lpstr>Explanation of findings</vt:lpstr>
      <vt:lpstr>Just Canada data</vt:lpstr>
      <vt:lpstr>Just Canada data</vt:lpstr>
      <vt:lpstr>Just Canada data</vt:lpstr>
      <vt:lpstr>Just Canada data</vt:lpstr>
      <vt:lpstr>PowerPoint Presentation</vt:lpstr>
      <vt:lpstr>PowerPoint Presentation</vt:lpstr>
      <vt:lpstr>PowerPoint Presentation</vt:lpstr>
      <vt:lpstr>OUTPUT</vt:lpstr>
      <vt:lpstr>PowerPoint Presentation</vt:lpstr>
      <vt:lpstr>Body condition and month</vt:lpstr>
      <vt:lpstr>Model 1.1 results</vt:lpstr>
      <vt:lpstr>Env data plots</vt:lpstr>
      <vt:lpstr>Env data plots</vt:lpstr>
      <vt:lpstr>Env data plots</vt:lpstr>
      <vt:lpstr>Mixed effects env effects model with m1.1</vt:lpstr>
      <vt:lpstr>Mixed effects model prediction with m1.1</vt:lpstr>
      <vt:lpstr>Mixed effects env effects model with m7.1 (only length and sex as predictors)</vt:lpstr>
      <vt:lpstr>Mixed effects model prediction with m7.1</vt:lpstr>
      <vt:lpstr>Bayesian length weight</vt:lpstr>
      <vt:lpstr>PowerPoint Presentation</vt:lpstr>
      <vt:lpstr>PowerPoint Presentation</vt:lpstr>
      <vt:lpstr>PowerPoint Presentation</vt:lpstr>
      <vt:lpstr>PowerPoint Presentation</vt:lpstr>
      <vt:lpstr>Bayesian posteriors of body condition and env variables </vt:lpstr>
      <vt:lpstr>Mean age with current year indices</vt:lpstr>
      <vt:lpstr>Mean age with prior year indices</vt:lpstr>
      <vt:lpstr>Annual mean age and env indices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Tai, Travis (DFO/MPO)</dc:creator>
  <cp:lastModifiedBy>Tai, Travis (DFO/MPO)</cp:lastModifiedBy>
  <cp:revision>9</cp:revision>
  <dcterms:created xsi:type="dcterms:W3CDTF">2026-07-30T12:23:06Z</dcterms:created>
  <dcterms:modified xsi:type="dcterms:W3CDTF">2026-09-17T21:40:03Z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e6cdb53-fd15-486d-84de-c510e3a62203_Enabled">
    <vt:lpwstr>true</vt:lpwstr>
  </property>
  <property fmtid="{D5CDD505-2E9C-101B-9397-08002B2CF9AE}" pid="3" name="MSIP_Label_4e6cdb53-fd15-486d-84de-c510e3a62203_SetDate">
    <vt:lpwstr>2026-07-30T22:30:28Z</vt:lpwstr>
  </property>
  <property fmtid="{D5CDD505-2E9C-101B-9397-08002B2CF9AE}" pid="4" name="MSIP_Label_4e6cdb53-fd15-486d-84de-c510e3a62203_Method">
    <vt:lpwstr>Standard</vt:lpwstr>
  </property>
  <property fmtid="{D5CDD505-2E9C-101B-9397-08002B2CF9AE}" pid="5" name="MSIP_Label_4e6cdb53-fd15-486d-84de-c510e3a62203_Name">
    <vt:lpwstr>UNCLASSIFIED - NON-CLASSIFIÉ</vt:lpwstr>
  </property>
  <property fmtid="{D5CDD505-2E9C-101B-9397-08002B2CF9AE}" pid="6" name="MSIP_Label_4e6cdb53-fd15-486d-84de-c510e3a62203_SiteId">
    <vt:lpwstr>1594fdae-a1d9-4405-915d-011467234338</vt:lpwstr>
  </property>
  <property fmtid="{D5CDD505-2E9C-101B-9397-08002B2CF9AE}" pid="7" name="MSIP_Label_4e6cdb53-fd15-486d-84de-c510e3a62203_ActionId">
    <vt:lpwstr>3f9ce69f-f888-48dd-9fa7-6f245dece170</vt:lpwstr>
  </property>
  <property fmtid="{D5CDD505-2E9C-101B-9397-08002B2CF9AE}" pid="8" name="MSIP_Label_4e6cdb53-fd15-486d-84de-c510e3a62203_ContentBits">
    <vt:lpwstr>1</vt:lpwstr>
  </property>
  <property fmtid="{D5CDD505-2E9C-101B-9397-08002B2CF9AE}" pid="9" name="MSIP_Label_4e6cdb53-fd15-486d-84de-c510e3a62203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Unclassified - Non-Classifié</vt:lpwstr>
  </property>
</Properties>
</file>